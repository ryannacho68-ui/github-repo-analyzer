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1000125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GitHub 仓库智能分析器</a:t>
            </a:r>
            <a:endParaRPr sz="4350" b="1">
              <a:solidFill>
                <a:srgbClr val="111827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23900" y="1866900"/>
            <a:ext cx="781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4B5563"/>
                </a:solidFill>
              </a:defRPr>
            </a:pPr>
            <a:r>
              <a:rPr sz="2025" b="0">
                <a:solidFill>
                  <a:srgbClr val="4B5563"/>
                </a:solidFill>
              </a:rPr>
              <a:t>静态分析 + LLM Agent 的仓库理解 Dashboard</a:t>
            </a:r>
            <a:endParaRPr sz="2025" b="0">
              <a:solidFill>
                <a:srgbClr val="4B5563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723900" y="2781300"/>
            <a:ext cx="9906000" cy="1524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3143250"/>
            <a:ext cx="935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输入 GitHub URL → 获取仓库 → 静态工具提取证据 → 多 Agent 分析 → 可视化报告</a:t>
            </a:r>
            <a:endParaRPr sz="2025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3733800"/>
            <a:ext cx="914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技术栈：Streamlit / GitHub API / git clone / AST / Ollama / RAG / Multi-Agent</a:t>
            </a:r>
            <a:endParaRPr sz="1575" b="0">
              <a:solidFill>
                <a:srgbClr val="4B556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5219700"/>
            <a:ext cx="99199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小组成员 / 日期：</a:t>
            </a:r>
            <a:r>
              <a:rPr lang="en-US" sz="1425" b="0">
                <a:solidFill>
                  <a:srgbClr val="6B7280"/>
                </a:solidFill>
              </a:rPr>
              <a:t>23089020 </a:t>
            </a:r>
            <a:r>
              <a:rPr lang="zh-CN" altLang="en-US" sz="1425" b="0">
                <a:solidFill>
                  <a:srgbClr val="6B7280"/>
                </a:solidFill>
              </a:rPr>
              <a:t>柴俣衡</a:t>
            </a:r>
            <a:r>
              <a:rPr lang="en-US" altLang="zh-CN" sz="1425" b="0">
                <a:solidFill>
                  <a:srgbClr val="6B7280"/>
                </a:solidFill>
              </a:rPr>
              <a:t> 23089021 </a:t>
            </a:r>
            <a:r>
              <a:rPr lang="zh-CN" altLang="en-US" sz="1425" b="0">
                <a:solidFill>
                  <a:srgbClr val="6B7280"/>
                </a:solidFill>
              </a:rPr>
              <a:t>陈祉涵</a:t>
            </a:r>
            <a:r>
              <a:rPr lang="en-US" altLang="zh-CN" sz="1425" b="0">
                <a:solidFill>
                  <a:srgbClr val="6B7280"/>
                </a:solidFill>
              </a:rPr>
              <a:t> 23089023 </a:t>
            </a:r>
            <a:r>
              <a:rPr lang="zh-CN" altLang="en-US" sz="1425" b="0">
                <a:solidFill>
                  <a:srgbClr val="6B7280"/>
                </a:solidFill>
              </a:rPr>
              <a:t>汤逸凡</a:t>
            </a:r>
            <a:r>
              <a:rPr lang="en-US" altLang="zh-CN" sz="1425" b="0">
                <a:solidFill>
                  <a:srgbClr val="6B7280"/>
                </a:solidFill>
              </a:rPr>
              <a:t>                                                                                      2026.06</a:t>
            </a:r>
            <a:endParaRPr lang="en-US" altLang="zh-CN" sz="1425" b="0">
              <a:solidFill>
                <a:srgbClr val="6B728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01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项目概述：做了什么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295400"/>
            <a:ext cx="319087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295400"/>
            <a:ext cx="57150" cy="1524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1466850"/>
            <a:ext cx="2847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一键分析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1828800"/>
            <a:ext cx="284797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输入公开仓库 URL 后，自动完成 API 获取、clone、静态分析和报告生成。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495800" y="1295400"/>
            <a:ext cx="319087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495800" y="1295400"/>
            <a:ext cx="57150" cy="1524000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705350" y="1466850"/>
            <a:ext cx="2847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多维报告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05350" y="1828800"/>
            <a:ext cx="284797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覆盖项目概览、技术栈、架构、质量、文档、测试、部署和风险。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05800" y="1295400"/>
            <a:ext cx="319087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305800" y="1295400"/>
            <a:ext cx="57150" cy="152400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15350" y="1466850"/>
            <a:ext cx="2847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交互问答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15350" y="1828800"/>
            <a:ext cx="284797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基于 README、配置和代码片段做 RAG 问答，回答运行方式和模型类等问题。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952500" y="3476625"/>
            <a:ext cx="10287000" cy="1524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57300" y="37433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核心定位</a:t>
            </a:r>
            <a:endParaRPr sz="1800" b="1">
              <a:solidFill>
                <a:srgbClr val="11182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57300" y="4171950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把陌生仓库理解拆成可计算、可追踪、可展示的工程流程，而不是只做一次大模型文本总结。</a:t>
            </a:r>
            <a:endParaRPr sz="1875" b="0">
              <a:solidFill>
                <a:srgbClr val="11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02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项目背景：解决什么问题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23900" y="1295400"/>
            <a:ext cx="495300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295400"/>
            <a:ext cx="57150" cy="1381125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33450" y="14668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理解成本高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33450" y="1828800"/>
            <a:ext cx="46101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陌生仓库需要同时看 README、目录、依赖、测试、部署和风险。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515100" y="1295400"/>
            <a:ext cx="495300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515100" y="1295400"/>
            <a:ext cx="57150" cy="1381125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24650" y="14668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人工评估慢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24650" y="1828800"/>
            <a:ext cx="46101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不同开发者关注点不同，手工判断技术栈和质量容易遗漏。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3900" y="3257550"/>
            <a:ext cx="495300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3257550"/>
            <a:ext cx="57150" cy="1381125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33450" y="342900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直接 LLM 不可靠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33450" y="3790950"/>
            <a:ext cx="46101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模型不擅长精确统计文件数、函数长度、依赖版本和测试情况。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515100" y="3257550"/>
            <a:ext cx="495300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515100" y="3257550"/>
            <a:ext cx="57150" cy="1381125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724650" y="342900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需要证据链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24650" y="3790950"/>
            <a:ext cx="46101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报告必须能说明结论来自哪个工具、哪个 Agent、哪些结构化证据。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03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stem_architectur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模块划分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23900" y="12192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219200"/>
            <a:ext cx="57150" cy="12382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33450" y="139065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仓库获取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33450" y="1752600"/>
            <a:ext cx="280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`repo_loader.py`</a:t>
            </a:r>
            <a:endParaRPr sz="1275" b="0">
              <a:solidFill>
                <a:srgbClr val="4B5563"/>
              </a:solidFill>
            </a:endParaRP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`github_api_client.py`</a:t>
            </a:r>
            <a:endParaRPr sz="1275" b="0">
              <a:solidFill>
                <a:srgbClr val="4B5563"/>
              </a:solidFill>
            </a:endParaRP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URL 解析、API、clone、缓存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495800" y="12192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495800" y="1219200"/>
            <a:ext cx="57150" cy="1238250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705350" y="139065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上下文构建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05350" y="1752600"/>
            <a:ext cx="280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`context_builder.py`</a:t>
            </a:r>
            <a:endParaRPr sz="1275" b="0">
              <a:solidFill>
                <a:srgbClr val="4B5563"/>
              </a:solidFill>
            </a:endParaRP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`analysis_models.py`</a:t>
            </a:r>
            <a:endParaRPr sz="1275" b="0">
              <a:solidFill>
                <a:srgbClr val="4B5563"/>
              </a:solidFill>
            </a:endParaRP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README、依赖、样本、入口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267700" y="12192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267700" y="1219200"/>
            <a:ext cx="57150" cy="123825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477250" y="139065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静态分析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477250" y="1752600"/>
            <a:ext cx="280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`file_tree.py`</a:t>
            </a:r>
            <a:endParaRPr sz="1275" b="0">
              <a:solidFill>
                <a:srgbClr val="4B5563"/>
              </a:solidFill>
            </a:endParaRP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`code_quality_analyzer.py`</a:t>
            </a:r>
            <a:endParaRPr sz="1275" b="0">
              <a:solidFill>
                <a:srgbClr val="4B5563"/>
              </a:solidFill>
            </a:endParaRP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文件树、AST、文档、风险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23900" y="31432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3900" y="3143250"/>
            <a:ext cx="57150" cy="12382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33450" y="33147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Agent 层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33450" y="3676650"/>
            <a:ext cx="280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`src/agents/*.py`</a:t>
            </a:r>
            <a:endParaRPr sz="1275" b="0">
              <a:solidFill>
                <a:srgbClr val="4B5563"/>
              </a:solidFill>
            </a:endParaRP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Overview、Tech、Architecture、Summary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495800" y="31432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495800" y="3143250"/>
            <a:ext cx="57150" cy="1238250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705350" y="33147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LLM / RAG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705350" y="3676650"/>
            <a:ext cx="280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`llm_client.py`</a:t>
            </a:r>
            <a:endParaRPr sz="1275" b="0">
              <a:solidFill>
                <a:srgbClr val="4B5563"/>
              </a:solidFill>
            </a:endParaRP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`rag_qa.py`</a:t>
            </a:r>
            <a:endParaRPr sz="1275" b="0">
              <a:solidFill>
                <a:srgbClr val="4B5563"/>
              </a:solidFill>
            </a:endParaRP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Ollama、JSON、检索问答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267700" y="31432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267700" y="3143250"/>
            <a:ext cx="57150" cy="123825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477250" y="33147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Web 展示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477250" y="3676650"/>
            <a:ext cx="280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`app.py`</a:t>
            </a:r>
            <a:endParaRPr sz="1275" b="0">
              <a:solidFill>
                <a:srgbClr val="4B5563"/>
              </a:solidFill>
            </a:endParaRP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Dashboard、图表、日志、导出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06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关键实现 1：分析编排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23900" y="1352550"/>
            <a:ext cx="5810250" cy="238125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562100"/>
            <a:ext cx="5353050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github_api = fetch_github_api_snapshot(repo_url)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repo_info = clone_or_use_cache(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repo_url, base_dir, refresh=refresh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).to_dict()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context = build_repository_context(repo_info, github_api)</a:t>
            </a:r>
            <a:endParaRPr sz="1275" b="0">
              <a:solidFill>
                <a:srgbClr val="F9FAF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124700" y="14097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原理说明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124700" y="1924050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• 先获取 GitHub API 快照</a:t>
            </a:r>
            <a:endParaRPr sz="1650" b="0">
              <a:solidFill>
                <a:srgbClr val="4B5563"/>
              </a:solidFill>
            </a:endParaRPr>
          </a:p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• 再 clone 或读取本地缓存</a:t>
            </a:r>
            <a:endParaRPr sz="1650" b="0">
              <a:solidFill>
                <a:srgbClr val="4B5563"/>
              </a:solidFill>
            </a:endParaRPr>
          </a:p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• 统一构建 RepositoryContext</a:t>
            </a:r>
            <a:endParaRPr sz="1650" b="0">
              <a:solidFill>
                <a:srgbClr val="4B5563"/>
              </a:solidFill>
            </a:endParaRPr>
          </a:p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• 后续 Agent 不重复扫描仓库</a:t>
            </a:r>
            <a:endParaRPr sz="1650" b="0">
              <a:solidFill>
                <a:srgbClr val="4B5563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124700" y="4381500"/>
            <a:ext cx="4000500" cy="66675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334250" y="455295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页面进度条与编排步骤对应，用户能看到系统确实在逐阶段分析。</a:t>
            </a:r>
            <a:endParaRPr sz="1350" b="0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07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关键实现 2：Agent 结构化输出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23900" y="1238250"/>
            <a:ext cx="5905500" cy="314325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447800"/>
            <a:ext cx="54483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@dataclass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class AgentResult: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agent_name: str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summary: str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findings: list[str]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evidence: list[dict[str, Any]]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score: float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llm_used: bool = False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tools_used: list[str] = field(default_factory=list)</a:t>
            </a:r>
            <a:endParaRPr sz="1275" b="0">
              <a:solidFill>
                <a:srgbClr val="F9FAF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162800" y="1390650"/>
            <a:ext cx="4000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• 每个 Agent 输出统一结构</a:t>
            </a:r>
            <a:endParaRPr sz="1650" b="0">
              <a:solidFill>
                <a:srgbClr val="4B5563"/>
              </a:solidFill>
            </a:endParaRPr>
          </a:p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• evidence 保存证据链</a:t>
            </a:r>
            <a:endParaRPr sz="1650" b="0">
              <a:solidFill>
                <a:srgbClr val="4B5563"/>
              </a:solidFill>
            </a:endParaRPr>
          </a:p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• llm_used 标记是否调用 Ollama</a:t>
            </a:r>
            <a:endParaRPr sz="1650" b="0">
              <a:solidFill>
                <a:srgbClr val="4B5563"/>
              </a:solidFill>
            </a:endParaRPr>
          </a:p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• tools_used 说明使用的规则工具</a:t>
            </a:r>
            <a:endParaRPr sz="1650" b="0">
              <a:solidFill>
                <a:srgbClr val="4B5563"/>
              </a:solidFill>
            </a:endParaRPr>
          </a:p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• Dashboard 和报告可统一读取</a:t>
            </a:r>
            <a:endParaRPr sz="1650" b="0">
              <a:solidFill>
                <a:srgbClr val="4B556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08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关键实现 3：Ollama 与降级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23900" y="1257300"/>
            <a:ext cx="6153150" cy="2914650"/>
          </a:xfrm>
          <a:prstGeom prst="roundRect">
            <a:avLst>
              <a:gd name="adj" fmla="val 2614"/>
            </a:avLst>
          </a:prstGeom>
          <a:solidFill>
            <a:srgbClr val="11182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466850"/>
            <a:ext cx="5695950" cy="2495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if not self.enabled: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self.last_call_log = {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    **base_log,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    "status": "disabled",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    "error_message": "LLM disabled by user option.",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}</a:t>
            </a:r>
            <a:endParaRPr sz="1275" b="0">
              <a:solidFill>
                <a:srgbClr val="F9FAFB"/>
              </a:solidFill>
            </a:endParaRPr>
          </a:p>
          <a:p>
            <a:pPr algn="l">
              <a:defRPr sz="1275" b="0">
                <a:solidFill>
                  <a:srgbClr val="F9FAFB"/>
                </a:solidFill>
              </a:defRPr>
            </a:pPr>
            <a:r>
              <a:rPr sz="1275" b="0">
                <a:solidFill>
                  <a:srgbClr val="F9FAFB"/>
                </a:solidFill>
              </a:rPr>
              <a:t>    return self._with_meta(fallback_payload, self.last_call_log)</a:t>
            </a:r>
            <a:endParaRPr sz="1275" b="0">
              <a:solidFill>
                <a:srgbClr val="F9FAF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334250" y="1371600"/>
            <a:ext cx="3619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334250" y="1371600"/>
            <a:ext cx="57150" cy="85725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543800" y="1543050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模型不可用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543800" y="1905000"/>
            <a:ext cx="3276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返回 fallback，静态分析结果继续可用。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334250" y="2514600"/>
            <a:ext cx="3619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334250" y="2514600"/>
            <a:ext cx="57150" cy="85725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543800" y="2686050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JSON 不合法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543800" y="3048000"/>
            <a:ext cx="3276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自动重试一次，仍失败则保留规则输出。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334250" y="3657600"/>
            <a:ext cx="3619500" cy="8699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334250" y="3657600"/>
            <a:ext cx="57150" cy="857250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505700" y="3789045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日志可追踪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536180" y="4076700"/>
            <a:ext cx="3276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记录 status、model、prompt_length、error_message。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09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关键实现 4：RAG 问答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857250" y="1695450"/>
            <a:ext cx="2286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47750" y="19050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  <a:endParaRPr sz="2700" b="1">
              <a:solidFill>
                <a:srgbClr val="2563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422400" y="1988820"/>
            <a:ext cx="1156335" cy="452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检索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5850" y="2628900"/>
            <a:ext cx="1828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README、配置文件、源码片段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38500" y="24003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6B7280"/>
                </a:solidFill>
              </a:defRPr>
            </a:pPr>
            <a:r>
              <a:rPr sz="2250" b="1">
                <a:solidFill>
                  <a:srgbClr val="6B7280"/>
                </a:solidFill>
              </a:rPr>
              <a:t>→</a:t>
            </a:r>
            <a:endParaRPr sz="2250" b="1">
              <a:solidFill>
                <a:srgbClr val="6B7280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638550" y="1695450"/>
            <a:ext cx="2286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829050" y="19050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2</a:t>
            </a:r>
            <a:endParaRPr sz="2700" b="1">
              <a:solidFill>
                <a:srgbClr val="2563E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295775" y="198882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匹配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867150" y="2628900"/>
            <a:ext cx="1828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根据问题关键词选择 Top-K 证据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19800" y="24003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6B7280"/>
                </a:solidFill>
              </a:defRPr>
            </a:pPr>
            <a:r>
              <a:rPr sz="2250" b="1">
                <a:solidFill>
                  <a:srgbClr val="6B7280"/>
                </a:solidFill>
              </a:rPr>
              <a:t>→</a:t>
            </a:r>
            <a:endParaRPr sz="2250" b="1">
              <a:solidFill>
                <a:srgbClr val="6B7280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19850" y="1695450"/>
            <a:ext cx="2286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10350" y="19050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3</a:t>
            </a:r>
            <a:endParaRPr sz="2700" b="1">
              <a:solidFill>
                <a:srgbClr val="2563E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048500" y="20002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增强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48450" y="2628900"/>
            <a:ext cx="1828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对运行步骤和模型类加入启发式规则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801100" y="24003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6B7280"/>
                </a:solidFill>
              </a:defRPr>
            </a:pPr>
            <a:r>
              <a:rPr sz="2250" b="1">
                <a:solidFill>
                  <a:srgbClr val="6B7280"/>
                </a:solidFill>
              </a:rPr>
              <a:t>→</a:t>
            </a:r>
            <a:endParaRPr sz="2250" b="1">
              <a:solidFill>
                <a:srgbClr val="6B7280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201150" y="1695450"/>
            <a:ext cx="2286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391650" y="19050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4</a:t>
            </a:r>
            <a:endParaRPr sz="2700" b="1">
              <a:solidFill>
                <a:srgbClr val="2563E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768205" y="198882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回答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429750" y="2628900"/>
            <a:ext cx="1828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Ollama 可用则生成回答，不可用则模板输出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3950" y="44767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关键边界：只发送检索到的小片段，不把完整仓库塞进 LLM 上下文。</a:t>
            </a:r>
            <a:endParaRPr sz="1800" b="1">
              <a:solidFill>
                <a:srgbClr val="111827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10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实验结果：单仓库分析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23900" y="1314450"/>
            <a:ext cx="3143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314450"/>
            <a:ext cx="57150" cy="12573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33450" y="14859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测试仓库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33450" y="184785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`pallets/flask`</a:t>
            </a:r>
            <a:endParaRPr sz="1275" b="0">
              <a:solidFill>
                <a:srgbClr val="4B5563"/>
              </a:solidFill>
            </a:endParaRP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典型 Python Web 框架项目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514850" y="1314450"/>
            <a:ext cx="3143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14850" y="1314450"/>
            <a:ext cx="57150" cy="1257300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724400" y="14859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LLM Agent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24400" y="184785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Tech Stack / Architecture / Overview / Summary 成功调用 Ollama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05800" y="1314450"/>
            <a:ext cx="3143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305800" y="1314450"/>
            <a:ext cx="57150" cy="125730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15350" y="14859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规则 Agent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15350" y="184785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Code Quality / Documentation / Test Deploy / Risk 使用静态规则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76300" y="3238500"/>
            <a:ext cx="10363200" cy="1123950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62050" y="3486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结果展示</a:t>
            </a:r>
            <a:endParaRPr sz="1800" b="1">
              <a:solidFill>
                <a:srgbClr val="11182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067050" y="3390900"/>
            <a:ext cx="723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Dashboard 展示项目概览、技术栈、文件树、风险和评分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Agent 日志记录 llm_used、model、score、tools_used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分析流程具备可追踪证据链</a:t>
            </a:r>
            <a:endParaRPr sz="1500" b="0">
              <a:solidFill>
                <a:srgbClr val="4B5563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11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实验结果：双仓库对比与测试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23900" y="1257300"/>
            <a:ext cx="4953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257300"/>
            <a:ext cx="57150" cy="13335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33450" y="14287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Flask vs Starlette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33450" y="1790700"/>
            <a:ext cx="4610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分别执行两次单仓库分析，再由 Comparison Agent 输出十维度对比、技术栈差异和适用场景建议。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515100" y="1257300"/>
            <a:ext cx="4953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515100" y="1257300"/>
            <a:ext cx="57150" cy="1333500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24650" y="14287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自动化测试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24650" y="1790700"/>
            <a:ext cx="4610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`pytest tests` 已知通过 15 个测试，覆盖 URL、API 限流、Agent 容错和 smoke 流程。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43000" y="3333750"/>
            <a:ext cx="9906000" cy="114300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428750" y="35623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评估结论</a:t>
            </a:r>
            <a:endParaRPr sz="1800" b="1">
              <a:solidFill>
                <a:srgbClr val="D9770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33750" y="36004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测试证明主流程和边界情况可运行；分析准确性仍需结合真实仓库和人工判断。</a:t>
            </a:r>
            <a:endParaRPr sz="1650" b="0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12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遇到的问题与解决方案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62000" y="1200150"/>
            <a:ext cx="1066800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" y="14668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问题</a:t>
            </a:r>
            <a:endParaRPr sz="1650" b="1">
              <a:solidFill>
                <a:srgbClr val="2563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0" y="14668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解决方案</a:t>
            </a:r>
            <a:endParaRPr sz="1650" b="1">
              <a:solidFill>
                <a:srgbClr val="2563E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1790700"/>
            <a:ext cx="100203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04900" y="19050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Ollama 不可用</a:t>
            </a:r>
            <a:endParaRPr sz="1425" b="1">
              <a:solidFill>
                <a:srgbClr val="11182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0" y="19050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自动 fallback 为模板报告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2305050"/>
            <a:ext cx="100203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24193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GitHub API 限流</a:t>
            </a:r>
            <a:endParaRPr sz="1425" b="1">
              <a:solidFill>
                <a:srgbClr val="111827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0" y="24193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API 失败后继续本地 clone 分析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2819400"/>
            <a:ext cx="100203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04900" y="2933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LLM 输出异常</a:t>
            </a:r>
            <a:endParaRPr sz="1425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34000" y="2933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JSON 重试 + 结果归一化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90600" y="3333750"/>
            <a:ext cx="100203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04900" y="3448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pytest 误扫缓存</a:t>
            </a:r>
            <a:endParaRPr sz="1425" b="1">
              <a:solidFill>
                <a:srgbClr val="11182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0" y="3448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`testpaths = tests` 排除缓存仓库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90600" y="3848100"/>
            <a:ext cx="100203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04900" y="39624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页面信息拥挤</a:t>
            </a:r>
            <a:endParaRPr sz="1425" b="1">
              <a:solidFill>
                <a:srgbClr val="11182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334000" y="39624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三栏 Dashboard + 滚动文件树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90600" y="4362450"/>
            <a:ext cx="100203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04900" y="44767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Windows 权限问题</a:t>
            </a:r>
            <a:endParaRPr sz="1425" b="1">
              <a:solidFill>
                <a:srgbClr val="111827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0" y="44767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缓存复用和友好错误提示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13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000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总结与未来改进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23900" y="1257300"/>
            <a:ext cx="4857750" cy="17335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257300"/>
            <a:ext cx="57150" cy="1733550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33450" y="142875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已完成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33450" y="1790700"/>
            <a:ext cx="45148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单仓库分析、双仓库对比、RAG 问答、Agent 日志、报告导出、Ollama 降级。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572250" y="1257300"/>
            <a:ext cx="4857750" cy="17335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572250" y="1257300"/>
            <a:ext cx="57150" cy="17335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81800" y="142875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项目特点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81800" y="1790700"/>
            <a:ext cx="45148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规则工具先提取证据，LLM Agent 再解释和汇总，兼顾智能性和可解释性。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3900" y="3543300"/>
            <a:ext cx="485775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3543300"/>
            <a:ext cx="57150" cy="127635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33450" y="371475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当前局限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33450" y="4076700"/>
            <a:ext cx="451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安全扫描可能误报；依赖漏洞和 coverage 仍是结构性估计。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572250" y="3543300"/>
            <a:ext cx="485775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572250" y="3543300"/>
            <a:ext cx="57150" cy="127635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781800" y="371475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后续优化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81800" y="4076700"/>
            <a:ext cx="451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接入 OSV、pip-audit、ChromaDB、JSON Schema、Docker 和历史报告管理。</a:t>
            </a:r>
            <a:endParaRPr sz="1275" b="0">
              <a:solidFill>
                <a:srgbClr val="4B556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6419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GitHub Repo Analyzer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782300" y="64198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14 / 14</a:t>
            </a:r>
            <a:endParaRPr sz="1050" b="0">
              <a:solidFill>
                <a:srgbClr val="6B728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3460</Words>
  <Application>WPS 演示</Application>
  <PresentationFormat>Converted Presentation</PresentationFormat>
  <Paragraphs>346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柴俣衡</cp:lastModifiedBy>
  <cp:revision>3</cp:revision>
  <dcterms:created xsi:type="dcterms:W3CDTF">2026-06-26T17:03:00Z</dcterms:created>
  <dcterms:modified xsi:type="dcterms:W3CDTF">2026-06-26T17:12:54Z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0097A5095DFA4EA5BE5E39B67ABD0C61_12</vt:lpwstr>
  </property>
  <property fmtid="{D5CDD505-2E9C-101B-9397-08002B2CF9AE}" pid="3" name="KSOProductBuildVer">
    <vt:lpwstr>2052-12.1.0.26895</vt:lpwstr>
  </property>
</Properties>
</file>